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05156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6B35"/>
                </a:solidFill>
                <a:latin typeface="Aptos"/>
              </a:rPr>
              <a:t>NOKU EASE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86868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2B2420"/>
                </a:solidFill>
                <a:latin typeface="Aptos"/>
              </a:rPr>
              <a:t>Make work easier,</a:t>
            </a:r>
            <a:br/>
            <a:r>
              <a:t>not harder.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033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95E57"/>
                </a:solidFill>
                <a:latin typeface="Aptos"/>
              </a:rPr>
              <a:t>By Nokuphila Madond  |  CAPACITI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33087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95E57"/>
                </a:solidFill>
                <a:latin typeface="Aptos"/>
              </a:rPr>
              <a:t>Johannesburg  •  Lovable AI + JavaScript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78240" y="1325880"/>
            <a:ext cx="2331720" cy="3383280"/>
          </a:xfrm>
          <a:prstGeom prst="roundRect">
            <a:avLst/>
          </a:prstGeom>
          <a:solidFill>
            <a:srgbClr val="FF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25712" y="16916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6B35"/>
                </a:solidFill>
                <a:latin typeface="Aptos"/>
              </a:rPr>
              <a:t>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89720" y="224028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6B35"/>
                </a:solidFill>
                <a:latin typeface="Aptos"/>
              </a:rPr>
              <a:t>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6840" y="3063240"/>
            <a:ext cx="18745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B2420"/>
                </a:solidFill>
                <a:latin typeface="Aptos"/>
              </a:rPr>
              <a:t>PLAN  •  WRITE</a:t>
            </a:r>
            <a:br/>
            <a:r>
              <a:t>RESEARCH  •  SAVE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7150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6B35"/>
                </a:solidFill>
                <a:latin typeface="Aptos"/>
              </a:rPr>
              <a:t>noku-ease-ai.lovable.app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510528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95E57"/>
                </a:solidFill>
                <a:latin typeface="Aptos"/>
              </a:rPr>
              <a:t>Noku Ease AI  •  CAPACITI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7395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FF6B35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B2420"/>
                </a:solidFill>
                <a:latin typeface="Aptos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95E57"/>
                </a:solidFill>
                <a:latin typeface="Aptos"/>
              </a:rPr>
              <a:t>A productivity gap for South African students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33832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F5D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7" y="1783080"/>
            <a:ext cx="475488" cy="475488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819656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19" y="176479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B2420"/>
                </a:solidFill>
                <a:latin typeface="Aptos"/>
              </a:rPr>
              <a:t>3 HOURS / 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95E57"/>
                </a:solidFill>
                <a:latin typeface="Aptos"/>
              </a:rPr>
              <a:t>Time disappears into repetitive productivity work.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00200"/>
            <a:ext cx="33832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F5D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90288" y="1783080"/>
            <a:ext cx="475488" cy="475488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819656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59" y="176479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B2420"/>
                </a:solidFill>
                <a:latin typeface="Aptos"/>
              </a:rPr>
              <a:t>WHERE IT GOES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28600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95E57"/>
                </a:solidFill>
                <a:latin typeface="Aptos"/>
              </a:rPr>
              <a:t>Task planning  •  60 min</a:t>
            </a:r>
            <a:br/>
            <a:r>
              <a:t>Emails  •  25 min × 4</a:t>
            </a:r>
            <a:br/>
            <a:r>
              <a:t>Research  •  50 min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600200"/>
            <a:ext cx="33832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F5D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39328" y="1783080"/>
            <a:ext cx="475488" cy="475488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8" y="1819656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SA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176479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B2420"/>
                </a:solidFill>
                <a:latin typeface="Aptos"/>
              </a:rPr>
              <a:t>REAL SA CONSTRAINTS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28600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95E57"/>
                </a:solidFill>
                <a:latin typeface="Aptos"/>
              </a:rPr>
              <a:t>Loadshedding, limited data and pressure to deliver make every minute matter.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48640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6B35"/>
                </a:solidFill>
                <a:latin typeface="Aptos"/>
              </a:rPr>
              <a:t>78% of my classmates struggle with productivity.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925312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95E57"/>
                </a:solidFill>
                <a:latin typeface="Aptos"/>
              </a:rPr>
              <a:t>I experienced this as a CAPACITI student — so I built for the problem.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510528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95E57"/>
                </a:solidFill>
                <a:latin typeface="Aptos"/>
              </a:rPr>
              <a:t>Noku Ease AI  •  CAPACITI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47395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FF6B35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B2420"/>
                </a:solidFill>
                <a:latin typeface="Aptos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95E57"/>
                </a:solidFill>
                <a:latin typeface="Aptos"/>
              </a:rPr>
              <a:t>Three focused AI tools in one peach-first workspace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347472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F5D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7" y="1691639"/>
            <a:ext cx="475488" cy="475488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728216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19" y="1673351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B2420"/>
                </a:solidFill>
                <a:latin typeface="Aptos"/>
              </a:rPr>
              <a:t>TASK PLANNER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94560"/>
            <a:ext cx="301752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95E57"/>
                </a:solidFill>
                <a:latin typeface="Aptos"/>
              </a:rPr>
              <a:t>Eisenhower priorities</a:t>
            </a:r>
            <a:br/>
            <a:r>
              <a:t>Time blocks</a:t>
            </a:r>
            <a:br/>
            <a:r>
              <a:t>South African productivity tips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508760"/>
            <a:ext cx="347472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F5D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0" y="1691639"/>
            <a:ext cx="475488" cy="475488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728216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48072" y="1673351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B2420"/>
                </a:solidFill>
                <a:latin typeface="Aptos"/>
              </a:rPr>
              <a:t>EMAIL GENERATOR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2194560"/>
            <a:ext cx="301752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95E57"/>
                </a:solidFill>
                <a:latin typeface="Aptos"/>
              </a:rPr>
              <a:t>4 email types</a:t>
            </a:r>
            <a:br/>
            <a:r>
              <a:t>4 tones</a:t>
            </a:r>
            <a:br/>
            <a:r>
              <a:t>POPIA-aware drafting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3" y="1508760"/>
            <a:ext cx="347472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F5D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02752" y="1691639"/>
            <a:ext cx="475488" cy="475488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1728216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78824" y="1673351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B2420"/>
                </a:solidFill>
                <a:latin typeface="Aptos"/>
              </a:rPr>
              <a:t>RESEARCH ASSISTANT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0183" y="2194560"/>
            <a:ext cx="301752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95E57"/>
                </a:solidFill>
                <a:latin typeface="Aptos"/>
              </a:rPr>
              <a:t>3 key insights</a:t>
            </a:r>
            <a:br/>
            <a:r>
              <a:t>2 next actions</a:t>
            </a:r>
            <a:br/>
            <a:r>
              <a:t>Simple analogy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394960"/>
            <a:ext cx="10698480" cy="658368"/>
          </a:xfrm>
          <a:prstGeom prst="roundRect">
            <a:avLst/>
          </a:prstGeom>
          <a:solidFill>
            <a:srgbClr val="2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550408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Demo input: “CAPACITI project, job applications”  →  09:00–10:30 Deep 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510528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95E57"/>
                </a:solidFill>
                <a:latin typeface="Aptos"/>
              </a:rPr>
              <a:t>Noku Ease AI  •  CAPACITI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47395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FF6B35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B2420"/>
                </a:solidFill>
                <a:latin typeface="Aptos"/>
              </a:rPr>
              <a:t>Prompt Engineering +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95E57"/>
                </a:solidFill>
                <a:latin typeface="Aptos"/>
              </a:rPr>
              <a:t>Iterative testing turned a generic prompt into a useful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6B35"/>
                </a:solidFill>
                <a:latin typeface="Aptos"/>
              </a:rPr>
              <a:t>ROLE + CONTEXT + TASK + FORMAT + CONSTRAINT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57400"/>
            <a:ext cx="33375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F5D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240280"/>
            <a:ext cx="475488" cy="475488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276856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V1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221992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B2420"/>
                </a:solidFill>
                <a:latin typeface="Aptos"/>
              </a:rPr>
              <a:t>V1  •  BASIC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43200"/>
            <a:ext cx="2880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95E57"/>
                </a:solidFill>
                <a:latin typeface="Aptos"/>
              </a:rPr>
              <a:t>“Help me plan my tasks.”</a:t>
            </a:r>
            <a:br/>
            <a:r>
              <a:t>Too broad; weak output.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5696" y="2057400"/>
            <a:ext cx="33375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F5D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26864" y="2240280"/>
            <a:ext cx="475488" cy="475488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6864" y="2276856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V2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02936" y="2221992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B2420"/>
                </a:solidFill>
                <a:latin typeface="Aptos"/>
              </a:rPr>
              <a:t>V2  •  STRUCTURED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4296" y="2743200"/>
            <a:ext cx="2880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95E57"/>
                </a:solidFill>
                <a:latin typeface="Aptos"/>
              </a:rPr>
              <a:t>Added context + format.</a:t>
            </a:r>
            <a:br/>
            <a:r>
              <a:t>More consistent results.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2" y="2057400"/>
            <a:ext cx="33375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F5D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21040" y="2240280"/>
            <a:ext cx="475488" cy="475488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2276856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V3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97112" y="2221992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B2420"/>
                </a:solidFill>
                <a:latin typeface="Aptos"/>
              </a:rPr>
              <a:t>V3  •  BEST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8472" y="2743200"/>
            <a:ext cx="2880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95E57"/>
                </a:solidFill>
                <a:latin typeface="Aptos"/>
              </a:rPr>
              <a:t>Added constraints + SA context.</a:t>
            </a:r>
            <a:br/>
            <a:r>
              <a:t>Clear, actionable output.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43484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B2420"/>
                </a:solidFill>
                <a:latin typeface="Aptos"/>
              </a:rPr>
              <a:t>PRODUCTIVITY 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846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95E57"/>
                </a:solidFill>
                <a:latin typeface="Aptos"/>
              </a:rPr>
              <a:t>TASKS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1663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6B35"/>
                </a:solidFill>
                <a:latin typeface="Aptos"/>
              </a:rPr>
              <a:t>60 min  →  5 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846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95E57"/>
                </a:solidFill>
                <a:latin typeface="Aptos"/>
              </a:rPr>
              <a:t>EMAILS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51663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6B35"/>
                </a:solidFill>
                <a:latin typeface="Aptos"/>
              </a:rPr>
              <a:t>25 min  →  3 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0" y="4846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95E57"/>
                </a:solidFill>
                <a:latin typeface="Aptos"/>
              </a:rPr>
              <a:t>RESEARCH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51663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6B35"/>
                </a:solidFill>
                <a:latin typeface="Aptos"/>
              </a:rPr>
              <a:t>50 min  →  6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B2420"/>
                </a:solidFill>
                <a:latin typeface="Aptos"/>
              </a:rPr>
              <a:t>≈ 2 hours saved daily  •  ≈ 10 hours saved weekly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510528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95E57"/>
                </a:solidFill>
                <a:latin typeface="Aptos"/>
              </a:rPr>
              <a:t>Noku Ease AI  •  CAPACITI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647395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FF6B35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B2420"/>
                </a:solidFill>
                <a:latin typeface="Aptos"/>
              </a:rPr>
              <a:t>Responsible AI +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95E57"/>
                </a:solidFill>
                <a:latin typeface="Aptos"/>
              </a:rPr>
              <a:t>Designed for useful AI — with human judgment still in the loop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0352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F5D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7" y="1600200"/>
            <a:ext cx="475488" cy="475488"/>
          </a:xfrm>
          <a:prstGeom prst="ellipse">
            <a:avLst/>
          </a:prstGeom>
          <a:solidFill>
            <a:srgbClr val="278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636776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19" y="1581912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B2420"/>
                </a:solidFill>
                <a:latin typeface="Aptos"/>
              </a:rPr>
              <a:t>RESPONSIBLE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03120"/>
            <a:ext cx="48463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95E57"/>
                </a:solidFill>
                <a:latin typeface="Aptos"/>
              </a:rPr>
              <a:t>✓ AI-generated content clearly labeled</a:t>
            </a:r>
            <a:br/>
            <a:r>
              <a:t>✓ No user data stored</a:t>
            </a:r>
            <a:br/>
            <a:r>
              <a:t>✓ POPIA-aware design</a:t>
            </a:r>
            <a:br/>
            <a:r>
              <a:t>✓ Bias-checked outputs</a:t>
            </a:r>
            <a:br/>
            <a:r>
              <a:t>✓ Human review before use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17320"/>
            <a:ext cx="530352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F5D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19088" y="1600200"/>
            <a:ext cx="475488" cy="475488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636776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59" y="1581912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B2420"/>
                </a:solidFill>
                <a:latin typeface="Aptos"/>
              </a:rPr>
              <a:t>WHAT MAKES IT DIFFERENT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103120"/>
            <a:ext cx="48463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95E57"/>
                </a:solidFill>
                <a:latin typeface="Aptos"/>
              </a:rPr>
              <a:t>✓ Unique peach visual identity</a:t>
            </a:r>
            <a:br/>
            <a:r>
              <a:t>✓ #FFFBF5 + #FF6B35</a:t>
            </a:r>
            <a:br/>
            <a:r>
              <a:t>✓ SA-specific: loadshedding + data saving</a:t>
            </a:r>
            <a:br/>
            <a:r>
              <a:t>✓ Offline-friendly thinking</a:t>
            </a:r>
            <a:br/>
            <a:r>
              <a:t>✓ Built to support academic integrity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89788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B35"/>
                </a:solidFill>
                <a:latin typeface="Aptos"/>
              </a:rPr>
              <a:t>LIVE DEMO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585216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B2420"/>
                </a:solidFill>
                <a:latin typeface="Aptos"/>
              </a:rPr>
              <a:t>noku-ease-ai.lovable.app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5852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B2420"/>
                </a:solidFill>
                <a:latin typeface="Aptos"/>
              </a:rPr>
              <a:t>GitHub: Nokuphila1998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38360" y="577900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FF6B35"/>
                </a:solidFill>
                <a:latin typeface="Aptos"/>
              </a:rPr>
              <a:t>THANK YOU!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510528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95E57"/>
                </a:solidFill>
                <a:latin typeface="Aptos"/>
              </a:rPr>
              <a:t>Noku Ease AI  •  CAPACITI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7395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FF6B35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